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8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4F9EB2-DFE2-45E5-B44C-3D5F68BCB2B2}">
  <a:tblStyle styleId="{4E4F9EB2-DFE2-45E5-B44C-3D5F68BCB2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234627cd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d234627cd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234627cd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d234627cd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61b9f62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e61b9f62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e61b9f62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e61b9f62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61b9f623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e61b9f623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5"/>
          <p:cNvGraphicFramePr/>
          <p:nvPr/>
        </p:nvGraphicFramePr>
        <p:xfrm>
          <a:off x="0" y="426325"/>
          <a:ext cx="9143975" cy="4717175"/>
        </p:xfrm>
        <a:graphic>
          <a:graphicData uri="http://schemas.openxmlformats.org/drawingml/2006/table">
            <a:tbl>
              <a:tblPr>
                <a:noFill/>
                <a:tableStyleId>{4E4F9EB2-DFE2-45E5-B44C-3D5F68BCB2B2}</a:tableStyleId>
              </a:tblPr>
              <a:tblGrid>
                <a:gridCol w="112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strike="noStrike" cap="none"/>
                        <a:t>Stakeholder</a:t>
                      </a:r>
                      <a:endParaRPr sz="800" u="none" strike="noStrike" cap="none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Role (Related to project)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Involvement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Impact</a:t>
                      </a:r>
                      <a:endParaRPr sz="11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Power or Influence (H/M/L)</a:t>
                      </a: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Interest (H/M/L)</a:t>
                      </a: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Engagement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" name="Google Shape;100;p25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285F4"/>
                </a:solidFill>
                <a:highlight>
                  <a:schemeClr val="lt1"/>
                </a:highlight>
              </a:rPr>
              <a:t>Understanding stakeholders (stakeholder analysis)</a:t>
            </a:r>
            <a:endParaRPr sz="2000" b="1">
              <a:solidFill>
                <a:srgbClr val="4285F4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6" name="Google Shape;106;p26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9" name="Google Shape;109;p26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6AA84F"/>
                </a:solidFill>
              </a:rPr>
              <a:t>Power</a:t>
            </a:r>
            <a:endParaRPr sz="1600" b="1" i="0" u="none" strike="noStrike" cap="none">
              <a:solidFill>
                <a:srgbClr val="6AA84F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12" name="Google Shape;112;p26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26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114;p26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17" name="Google Shape;117;p26"/>
          <p:cNvCxnSpPr>
            <a:stCxn id="114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26"/>
          <p:cNvCxnSpPr>
            <a:stCxn id="114" idx="1"/>
            <a:endCxn id="116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26"/>
          <p:cNvSpPr txBox="1"/>
          <p:nvPr/>
        </p:nvSpPr>
        <p:spPr>
          <a:xfrm>
            <a:off x="-1005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5" name="Google Shape;125;p26"/>
          <p:cNvSpPr/>
          <p:nvPr/>
        </p:nvSpPr>
        <p:spPr>
          <a:xfrm>
            <a:off x="190600" y="932913"/>
            <a:ext cx="1773900" cy="880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Drag each stakeholder’s box to the appropriate place on the power-interest grid</a:t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27" name="Google Shape;127;p26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u="none" strike="noStrike" cap="none">
              <a:solidFill>
                <a:srgbClr val="666666"/>
              </a:solidFill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7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" name="Google Shape;142;p27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3" name="Google Shape;143;p27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46" name="Google Shape;146;p27"/>
          <p:cNvCxnSpPr>
            <a:stCxn id="143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7"/>
          <p:cNvCxnSpPr>
            <a:stCxn id="143" idx="1"/>
            <a:endCxn id="145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8" name="Google Shape;148;p27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54" name="Google Shape;154;p27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16791" y="503700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8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1" name="Google Shape;181;p28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84" name="Google Shape;184;p28"/>
          <p:cNvCxnSpPr>
            <a:stCxn id="181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28"/>
          <p:cNvCxnSpPr>
            <a:stCxn id="181" idx="1"/>
            <a:endCxn id="183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28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1" name="Google Shape;191;p28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92" name="Google Shape;192;p28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338400" y="499044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9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0" name="Google Shape;220;p29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223" name="Google Shape;223;p29"/>
          <p:cNvCxnSpPr>
            <a:stCxn id="220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29"/>
          <p:cNvCxnSpPr>
            <a:stCxn id="220" idx="1"/>
            <a:endCxn id="222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5" name="Google Shape;225;p29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30" name="Google Shape;230;p29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231" name="Google Shape;231;p29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82971" y="499044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9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4823925" y="205623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A4837E0DA69342BAD85ACB970EEFA5" ma:contentTypeVersion="13" ma:contentTypeDescription="Crear nuevo documento." ma:contentTypeScope="" ma:versionID="55150a22e0987a505a1ea95a5093f991">
  <xsd:schema xmlns:xsd="http://www.w3.org/2001/XMLSchema" xmlns:xs="http://www.w3.org/2001/XMLSchema" xmlns:p="http://schemas.microsoft.com/office/2006/metadata/properties" xmlns:ns2="678b2ff6-0986-49fa-b210-ff5264ae4a30" xmlns:ns3="8826620b-8bab-493e-9d1c-6774f5fe946b" targetNamespace="http://schemas.microsoft.com/office/2006/metadata/properties" ma:root="true" ma:fieldsID="5dd080c009da857bf86c7147066c0949" ns2:_="" ns3:_="">
    <xsd:import namespace="678b2ff6-0986-49fa-b210-ff5264ae4a30"/>
    <xsd:import namespace="8826620b-8bab-493e-9d1c-6774f5fe94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b2ff6-0986-49fa-b210-ff5264ae4a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0f30609-8120-4401-9a5b-a7806ab705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26620b-8bab-493e-9d1c-6774f5fe94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e545f5-ae54-4ac8-b231-4a1f7f406bbc}" ma:internalName="TaxCatchAll" ma:showField="CatchAllData" ma:web="8826620b-8bab-493e-9d1c-6774f5fe94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26620b-8bab-493e-9d1c-6774f5fe946b" xsi:nil="true"/>
    <lcf76f155ced4ddcb4097134ff3c332f xmlns="678b2ff6-0986-49fa-b210-ff5264ae4a3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2FCE9B-CBFE-46FE-BEB4-B9F054501EC7}"/>
</file>

<file path=customXml/itemProps2.xml><?xml version="1.0" encoding="utf-8"?>
<ds:datastoreItem xmlns:ds="http://schemas.openxmlformats.org/officeDocument/2006/customXml" ds:itemID="{04042547-64C1-45FC-9AA8-D4F0219A79CB}"/>
</file>

<file path=customXml/itemProps3.xml><?xml version="1.0" encoding="utf-8"?>
<ds:datastoreItem xmlns:ds="http://schemas.openxmlformats.org/officeDocument/2006/customXml" ds:itemID="{CEC2AB19-5344-4DEC-A224-969D9DE8B6F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Presentación en pantalla (16:9)</PresentationFormat>
  <Paragraphs>90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Roboto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Veneskey</dc:creator>
  <cp:lastModifiedBy>Magali Cazella</cp:lastModifiedBy>
  <cp:revision>1</cp:revision>
  <dcterms:modified xsi:type="dcterms:W3CDTF">2024-12-18T11:24:20Z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0x01010045A4837E0DA69342BAD85ACB970EEFA5</vt:lpwstr>
  </property>
</Properties>
</file>